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disagreement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D1-BD49-B59D-90A47E29BC61}"/>
              </c:ext>
            </c:extLst>
          </c:dPt>
          <c:dPt>
            <c:idx val="1"/>
            <c:invertIfNegative val="0"/>
            <c:bubble3D val="0"/>
            <c:spPr>
              <a:solidFill>
                <a:srgbClr val="5BA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D1-BD49-B59D-90A47E29BC61}"/>
              </c:ext>
            </c:extLst>
          </c:dPt>
          <c:dPt>
            <c:idx val="2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D1-BD49-B59D-90A47E29BC61}"/>
              </c:ext>
            </c:extLst>
          </c:dPt>
          <c:dPt>
            <c:idx val="3"/>
            <c:invertIfNegative val="0"/>
            <c:bubble3D val="0"/>
            <c:spPr>
              <a:solidFill>
                <a:srgbClr val="E284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D1-BD49-B59D-90A47E29BC61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1D1-BD49-B59D-90A47E29BC6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Cabin Crew</c:v>
                </c:pt>
                <c:pt idx="1">
                  <c:v>Cabin Comfort</c:v>
                </c:pt>
                <c:pt idx="2">
                  <c:v>Punctuality</c:v>
                </c:pt>
                <c:pt idx="3">
                  <c:v>Food &amp; Bev.</c:v>
                </c:pt>
                <c:pt idx="4">
                  <c:v>Value For Money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38.1</c:v>
                </c:pt>
                <c:pt idx="1">
                  <c:v>44.4</c:v>
                </c:pt>
                <c:pt idx="2">
                  <c:v>45.8</c:v>
                </c:pt>
                <c:pt idx="3">
                  <c:v>50.1</c:v>
                </c:pt>
                <c:pt idx="4">
                  <c:v>59.8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1D1-BD49-B59D-90A47E29BC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6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polarity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28-5A4E-8276-6D6C1CE5FFB4}"/>
              </c:ext>
            </c:extLst>
          </c:dPt>
          <c:dPt>
            <c:idx val="1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28-5A4E-8276-6D6C1CE5FFB4}"/>
              </c:ext>
            </c:extLst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28-5A4E-8276-6D6C1CE5FFB4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28-5A4E-8276-6D6C1CE5FFB4}"/>
              </c:ext>
            </c:extLst>
          </c:dPt>
          <c:dPt>
            <c:idx val="4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28-5A4E-8276-6D6C1CE5FFB4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Punctuality</c:v>
                </c:pt>
                <c:pt idx="1">
                  <c:v>Value For Money</c:v>
                </c:pt>
                <c:pt idx="2">
                  <c:v>Cabin Comfort</c:v>
                </c:pt>
                <c:pt idx="3">
                  <c:v>Cabin Crew</c:v>
                </c:pt>
                <c:pt idx="4">
                  <c:v>Food &amp; Bev.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-1.03</c:v>
                </c:pt>
                <c:pt idx="1">
                  <c:v>0.17</c:v>
                </c:pt>
                <c:pt idx="2">
                  <c:v>0.65</c:v>
                </c:pt>
                <c:pt idx="3">
                  <c:v>0.79</c:v>
                </c:pt>
                <c:pt idx="4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28-5A4E-8276-6D6C1CE5FF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.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5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 Comfort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Prem. Eco.</c:v>
                </c:pt>
                <c:pt idx="2">
                  <c:v>Business</c:v>
                </c:pt>
                <c:pt idx="3">
                  <c:v>First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2.59</c:v>
                </c:pt>
                <c:pt idx="1">
                  <c:v>2.91</c:v>
                </c:pt>
                <c:pt idx="2">
                  <c:v>3.51</c:v>
                </c:pt>
                <c:pt idx="3">
                  <c:v>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5C-824A-B9A9-AD1E873A1E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Cabin Staff</c:v>
                </c:pt>
              </c:strCache>
            </c:strRef>
          </c:tx>
          <c:spPr>
            <a:solidFill>
              <a:srgbClr val="E2842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Prem. Eco.</c:v>
                </c:pt>
                <c:pt idx="2">
                  <c:v>Business</c:v>
                </c:pt>
                <c:pt idx="3">
                  <c:v>First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2.86</c:v>
                </c:pt>
                <c:pt idx="1">
                  <c:v>3.09</c:v>
                </c:pt>
                <c:pt idx="2">
                  <c:v>3.77</c:v>
                </c:pt>
                <c:pt idx="3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5C-824A-B9A9-AD1E873A1E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Value For Money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Prem. Eco.</c:v>
                </c:pt>
                <c:pt idx="2">
                  <c:v>Business</c:v>
                </c:pt>
                <c:pt idx="3">
                  <c:v>First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2.5099999999999998</c:v>
                </c:pt>
                <c:pt idx="1">
                  <c:v>2.69</c:v>
                </c:pt>
                <c:pt idx="2">
                  <c:v>3.34</c:v>
                </c:pt>
                <c:pt idx="3">
                  <c:v>3.08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5C-824A-B9A9-AD1E873A1E6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Wifi</c:v>
                </c:pt>
              </c:strCache>
            </c:strRef>
          </c:tx>
          <c:spPr>
            <a:solidFill>
              <a:srgbClr val="8E6FB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Prem. Eco.</c:v>
                </c:pt>
                <c:pt idx="2">
                  <c:v>Business</c:v>
                </c:pt>
                <c:pt idx="3">
                  <c:v>First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1.83</c:v>
                </c:pt>
                <c:pt idx="1">
                  <c:v>2.2400000000000002</c:v>
                </c:pt>
                <c:pt idx="2">
                  <c:v>2.76</c:v>
                </c:pt>
                <c:pt idx="3">
                  <c:v>2.69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5C-824A-B9A9-AD1E873A1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5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AFC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1A2B3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F8-0D4E-85B0-E477E4162692}"/>
              </c:ext>
            </c:extLst>
          </c:dPt>
          <c:dPt>
            <c:idx val="1"/>
            <c:invertIfNegative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F8-0D4E-85B0-E477E4162692}"/>
              </c:ext>
            </c:extLst>
          </c:dPt>
          <c:dPt>
            <c:idx val="2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F8-0D4E-85B0-E477E4162692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F8-0D4E-85B0-E477E416269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Weather
only</c:v>
                </c:pt>
                <c:pt idx="1">
                  <c:v>No weather,
no delay</c:v>
                </c:pt>
                <c:pt idx="2">
                  <c:v>Weather
+ delay</c:v>
                </c:pt>
                <c:pt idx="3">
                  <c:v>Delay
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5.71</c:v>
                </c:pt>
                <c:pt idx="1">
                  <c:v>4.57</c:v>
                </c:pt>
                <c:pt idx="2">
                  <c:v>3.77</c:v>
                </c:pt>
                <c:pt idx="3">
                  <c:v>2.64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CF8-0D4E-85B0-E477E41626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A9-9042-AAFD-FDD4BBE91293}"/>
              </c:ext>
            </c:extLst>
          </c:dPt>
          <c:dPt>
            <c:idx val="1"/>
            <c:invertIfNegative val="0"/>
            <c:bubble3D val="0"/>
            <c:spPr>
              <a:solidFill>
                <a:srgbClr val="5BA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A9-9042-AAFD-FDD4BBE91293}"/>
              </c:ext>
            </c:extLst>
          </c:dPt>
          <c:dPt>
            <c:idx val="2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A9-9042-AAFD-FDD4BBE91293}"/>
              </c:ext>
            </c:extLst>
          </c:dPt>
          <c:dPt>
            <c:idx val="3"/>
            <c:invertIfNegative val="0"/>
            <c:bubble3D val="0"/>
            <c:spPr>
              <a:solidFill>
                <a:srgbClr val="E284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A9-9042-AAFD-FDD4BBE91293}"/>
              </c:ext>
            </c:extLst>
          </c:dPt>
          <c:dPt>
            <c:idx val="4"/>
            <c:invertIfNegative val="0"/>
            <c:bubble3D val="0"/>
            <c:spPr>
              <a:solidFill>
                <a:srgbClr val="CF7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A9-9042-AAFD-FDD4BBE91293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A9-9042-AAFD-FDD4BBE9129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Turbulence</c:v>
                </c:pt>
                <c:pt idx="1">
                  <c:v>Ice/De-ice</c:v>
                </c:pt>
                <c:pt idx="2">
                  <c:v>Fog</c:v>
                </c:pt>
                <c:pt idx="3">
                  <c:v>Wind/Storm</c:v>
                </c:pt>
                <c:pt idx="4">
                  <c:v>Precip.</c:v>
                </c:pt>
                <c:pt idx="5">
                  <c:v>Generic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6.09</c:v>
                </c:pt>
                <c:pt idx="1">
                  <c:v>5.58</c:v>
                </c:pt>
                <c:pt idx="2">
                  <c:v>4.5999999999999996</c:v>
                </c:pt>
                <c:pt idx="3">
                  <c:v>4.22</c:v>
                </c:pt>
                <c:pt idx="4">
                  <c:v>3.94</c:v>
                </c:pt>
                <c:pt idx="5">
                  <c:v>3.21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6A9-9042-AAFD-FDD4BBE912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CC7-5D44-A37D-EF8DF4926B50}"/>
              </c:ext>
            </c:extLst>
          </c:dPt>
          <c:dPt>
            <c:idx val="1"/>
            <c:invertIfNegative val="0"/>
            <c:bubble3D val="0"/>
            <c:spPr>
              <a:solidFill>
                <a:srgbClr val="E284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C7-5D44-A37D-EF8DF4926B50}"/>
              </c:ext>
            </c:extLst>
          </c:dPt>
          <c:dPt>
            <c:idx val="2"/>
            <c:invertIfNegative val="0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C7-5D44-A37D-EF8DF4926B50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C7-5D44-A37D-EF8DF4926B50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2263A"/>
                    </a:solidFill>
                    <a:latin typeface="Arial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Premium Economy</c:v>
                </c:pt>
                <c:pt idx="1">
                  <c:v>Economy</c:v>
                </c:pt>
                <c:pt idx="2">
                  <c:v>Business</c:v>
                </c:pt>
                <c:pt idx="3">
                  <c:v>First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-0.5</c:v>
                </c:pt>
                <c:pt idx="1">
                  <c:v>-0.44</c:v>
                </c:pt>
                <c:pt idx="2">
                  <c:v>-0.28000000000000003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C7-5D44-A37D-EF8DF4926B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2"/>
          <c:min val="-0.6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6FA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A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59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 | running total 0:20]</a:t>
            </a:r>
          </a:p>
          <a:p/>
          <a:p>
            <a:r>
              <a:t>Good morning, and thank you. My thesis develops a domain-aware Aspect-Based Sentiment Analysis framework for airline passenger reviews. I will briefly present the problem and the three research questions, then the methodology, and I will dedicate most of the time to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| running total 0:55]</a:t>
            </a:r>
          </a:p>
          <a:p/>
          <a:p>
            <a:r>
              <a:t>A flight is a sequence of experiences, so one review mixes several opinions — like this one: friendly crew, a three-hour delay, a cramped seat, yet fair value for the price. Document-level sentiment collapses this into one label and hides what mattered. ABSA reframes the question: not 'is this review positive or negative', but 'what is evaluated, and with what sentiment' — around five domain aspects: Punctuality, Cabin Comfort, Cabin Crew Service, Food and Beverages, and Value For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1:25]</a:t>
            </a:r>
          </a:p>
          <a:p/>
          <a:p>
            <a:r>
              <a:t>Three research questions, at three levels. RQ1, methodological: does domain-aware ABSA beat a lexicon baseline, and does a fine-tuned DistilBERT improve over classical TF-IDF? RQ2, the structure of satisfaction: which aspects drive the overall rating, and how does this vary across carriers, cabins and traveller segments? RQ3, context: do weather, seasonality and major events change how passengers judge the same service?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1:55]</a:t>
            </a:r>
          </a:p>
          <a:p/>
          <a:p>
            <a:r>
              <a:t>The corpus: almost 145 thousand reviews, 578 airlines, from 2012 to 2026, from SkyTrax — each linking the text to an overall rating, seven sub-ratings, and context like cabin class and traveller type. One property shapes every interpretation: the distribution is strongly bimodal. This is self-selection — people write when an experience is exceptional. So the mean of 4.38 is the average of memorable journeys, not of all passengers.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2:25]</a:t>
            </a:r>
          </a:p>
          <a:p/>
          <a:p>
            <a:r>
              <a:t>The methodology is an end-to-end modular pipeline of eighteen Python modules, following the passenger journey: data preparation, aspect detection with BIO tagging, the core sentiment classification with three models, rating alignment, and finally the contextual and causal modules — delay, segments, weather, seasonality, events. The modular design keeps every step transparent and reproducible, and the code is open-source.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 | running total 3:05]</a:t>
            </a:r>
          </a:p>
          <a:p/>
          <a:p>
            <a:r>
              <a:t>Two core ingredients. Extraction uses BIO tagging — each token labelled Begin, Inside or Outside an aspect phrase, so expressions like 'missed connection' stay whole. Supervision uses silver labels derived from the sub-ratings — low to negative, middle to neutral, high to positive. This enables training at scale but injects noise, and that noise becomes part of the question. I then compare three levels of complexity — a lexicon baseline, TF-IDF with Logistic Regression, and a fine-tuned aspect-aware DistilBERT — all on a time-based split: train on the past, test on later reviews. The central test: is the bottleneck the model, or the labels?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3:35]</a:t>
            </a:r>
          </a:p>
          <a:p/>
          <a:p>
            <a:r>
              <a:t>Now the results, starting with RQ1. Extraction works at scale: about 718 thousand aspect spans, covering ninety-six percent of reviews. On the left, Cabin Crew Service is the most-discussed aspect — passengers describe airlines through the human interface. On the right, the key number: seventy-six percent of reviews mention two or more aspects. This is the empirical justification for ABSA — a single document label would genuinely lose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 | running total 4:15]</a:t>
            </a:r>
          </a:p>
          <a:p/>
          <a:p>
            <a:r>
              <a:t>The headline of RQ1. On the left: the lexicon reaches 0.462 macro-F1; TF-IDF jumps to 0.608 — a clear, consistent gain, because airline dissatisfaction is expressed through events, not adjectives. The surprise is on the right: DistilBERT reaches only 0.574 and loses to TF-IDF on four of five aspects. A transformer does not dominate here — and the explanation is supervision: with noisy silver labels, the high-capacity model learns the inconsistencies, while the simpler, regularised model is more robust.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4:45]</a:t>
            </a:r>
          </a:p>
          <a:p/>
          <a:p>
            <a:r>
              <a:t>Why does the transformer struggle? Two diagnostics. First, the neutral class is the bottleneck: in airline reviews, neutral rarely means neutral language — it means a mixed experience, which an indirect label cannot pin down. Second, the disagreement chart: Value For Money is the hardest aspect, with almost sixty percent disagreement, because price words are not inherently positive or negative — meaning depends on perceived fairness. The implication: under noisy labels, improving label quality matters more than a bigger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| running total 5:20]</a:t>
            </a:r>
          </a:p>
          <a:p/>
          <a:p>
            <a:r>
              <a:t>RQ2: what drives satisfaction. Value For Money is the strongest driver, and three independent methods agree: the highest correlation with the overall rating, 0.899; the dominant Ridge predictor, with eighty-seven percent of variance explained; and a near-neutral opinion polarity. The interpretation: Value For Money is the lens through which passengers judge everything else — comfort, crew and food are weighed against the fare. It is compensable: a basic flight can still pass if the price feels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| running total 5:55]</a:t>
            </a:r>
          </a:p>
          <a:p/>
          <a:p>
            <a:r>
              <a:t>Punctuality plays the opposite role. It is the only aspect with negative opinion polarity — minus 1.03 — and 'delayed' is the single most frequent opinion word in the corpus: over thirty-seven thousand occurrences, ahead of 'good' or 'friendly'. And delay behaves like a switch: ratings collapse between the one-hour and two-hour bands, then plateau at a floor. Once a delay is severe, crew, food or comfort cannot repair the judgement. Punctuality is non-compensable — which is why operational reliability remains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6:25]</a:t>
            </a:r>
          </a:p>
          <a:p/>
          <a:p>
            <a:r>
              <a:t>Satisfaction is read relative to expectation. Business outperforms Economy across the board — but Wifi is the weakest dimension in every cabin: a structural gap. Legacy carriers score higher on service, yet Value For Money is almost identical to low-cost — expectations track the business model. Solo Business travellers are the most satisfied, Family Leisure in Economy the least. But delay overrides everything: when mentioned, all groups converge to a shared dissatisfaction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| running total 7:00]</a:t>
            </a:r>
          </a:p>
          <a:p/>
          <a:p>
            <a:r>
              <a:t>RQ3: context. First, weather — which works through attribution. On the left: delay alone crashes ratings to 2.64; reviews mentioning weather alone are the highest, at 5.71; and weather plus delay recovers to 3.77. Weather softens the blame without removing it, because the cause appears external. On the right, specificity matters: turbulence — clearly uncontrollable — scores 6.09, while vague 'generic weather' scores only 3.21. Passengers forgive what is clearly outside the airline's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7:30]</a:t>
            </a:r>
          </a:p>
          <a:p/>
          <a:p>
            <a:r>
              <a:t>Second, seasonality — measured hemisphere by hemisphere, since the two peak in opposite months. The Northern summer carries a significant satisfaction penalty of minus 0.47. But it is uneven: Premium Economy is hit hardest, while First Class shows no significant decline. So this is not only a capacity effect — it is an expectations effect: a strong enough service floor insulates against peak-season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 | running total 8:05]</a:t>
            </a:r>
          </a:p>
          <a:p/>
          <a:p>
            <a:r>
              <a:t>Third, major events — where a causal design is essential. The table compares the raw before-and-after change with a Difference-in-Differences estimate that controls for the seasonal baseline. The Boeing Door Blowout is the clearest case: raw ratings rose, plus 0.32 — but the DiD is minus 0.30. Once seasonality is removed, the effect flips sign. COVID is the strongest genuine negative. The lesson: raw before-and-after comparisons can point the wrong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| running total 8:35]</a:t>
            </a:r>
          </a:p>
          <a:p/>
          <a:p>
            <a:r>
              <a:t>Pulling the three questions together, three takeaways. First, compensable versus non-compensable dimensions: Value For Money is judged through trade-offs, Punctuality sets a floor other aspects cannot lift. Second, a methodological lesson: model complexity should match supervision quality — with noisy labels, fixing the labels beats scaling the model. Third, ABSA becomes managerially useful when combined with context: it shows when, and for whom, each sentiment matters. In one line: satisfaction is governed by fairness, reliability, expectations and attribution — not by a single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 | running total 9:00]</a:t>
            </a:r>
          </a:p>
          <a:p/>
          <a:p>
            <a:r>
              <a:t>To conclude: the contribution is twofold — methodologically, a modular, domain-aware ABSA pipeline working at scale; managerially, a way to turn reviews into structured evidence about what failed, for whom, and under which conditions. The main limitation is the absence of gold-standard annotation: silver-label noise is the most likely reason the transformer underperformed. Future work: a manually annotated evaluation set, better neutral-class handling, richer contextual signals. Thank you very much — I am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1078992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FOR ECONOMICS  ·  UNIVERSITÀ DEGLI STUDI DI MILANO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514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Aspect-Based Sentiment Analysis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Airline Reviews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Domain-Aware NLP Study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Antonella Convertini</a:t>
            </a:r>
            <a:r>
              <a:rPr lang="en-US" sz="1300" dirty="0">
                <a:solidFill>
                  <a:srgbClr val="6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Student ID 45853A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742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Alfio Ferrara</a:t>
            </a:r>
            <a:r>
              <a:rPr lang="en-US" sz="1300" dirty="0">
                <a:solidFill>
                  <a:srgbClr val="6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Co-supervisor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Stefano Montanelli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284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satisfaction is multidimensional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is a sequence of experiences — one review mixes several opinions.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6126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777240" y="21762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review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514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was </a:t>
            </a: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</a:t>
            </a: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we were </a:t>
            </a: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three hours</a:t>
            </a: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seat was </a:t>
            </a: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cramped</a:t>
            </a: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yet for the price it was </a:t>
            </a: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positive, negative &amp; neutral — in one text.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Document-level sentiment gives one label and hides what mattered.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03720" y="1554480"/>
            <a:ext cx="4754880" cy="3931920"/>
          </a:xfrm>
          <a:prstGeom prst="roundRect">
            <a:avLst>
              <a:gd name="adj" fmla="val 2326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ABSA reframes the task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78040" y="2194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evaluated,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with what sentiment?”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domain-specific aspects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78040" y="331012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374136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07808" y="3291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178040" y="372160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3785616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07808" y="3703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Comfort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178040" y="413308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48" y="4197096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7808" y="4114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Crew Service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178040" y="454456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4608576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07808" y="4526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178040" y="4956048"/>
            <a:ext cx="292608" cy="2926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2048" y="5020056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607808" y="49377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284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guide the thesis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868680" y="2194560"/>
            <a:ext cx="868680" cy="86868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441448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86868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68680" y="432511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domain-aware ABSA beat a lexicon — and does DistilBERT beat TF-IDF?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453128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9"/>
          <p:cNvSpPr/>
          <p:nvPr/>
        </p:nvSpPr>
        <p:spPr>
          <a:xfrm>
            <a:off x="4773168" y="2194560"/>
            <a:ext cx="868680" cy="868680"/>
          </a:xfrm>
          <a:prstGeom prst="ellipse">
            <a:avLst/>
          </a:prstGeom>
          <a:solidFill>
            <a:srgbClr val="E2842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6" y="244144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73168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8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4773168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&amp; segments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773168" y="432511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aspects drive satisfaction, and how does it vary by carrier, cabin &amp; traveller?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357616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9" name="Shape 14"/>
          <p:cNvSpPr/>
          <p:nvPr/>
        </p:nvSpPr>
        <p:spPr>
          <a:xfrm>
            <a:off x="8677656" y="2194560"/>
            <a:ext cx="868680" cy="8686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4544" y="2441448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77656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3200" dirty="0"/>
          </a:p>
        </p:txBody>
      </p:sp>
      <p:sp>
        <p:nvSpPr>
          <p:cNvPr id="22" name="Text 16"/>
          <p:cNvSpPr/>
          <p:nvPr/>
        </p:nvSpPr>
        <p:spPr>
          <a:xfrm>
            <a:off x="8677656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677656" y="432511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weather, seasonality &amp; global events modulate aspect sentiment?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86A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real-world review corpus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640080" y="16550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144,934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reviews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02152" y="150876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3593592" y="16550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93592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55664" y="150876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6547104" y="16550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2012–2026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547104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2012 → Mar 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409176" y="150876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9500616" y="16550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4.38 / 10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500616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overall rating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airlinequality.com (SkyTrax)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34747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bimodal &amp; self-selected:  </a:t>
            </a: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reviews over-represent extreme journeys, so 4.38 is the mean of memorable trips — not of all passengers.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989320" y="3035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&amp; review length</a:t>
            </a:r>
            <a:endParaRPr lang="en-US" sz="1250" dirty="0"/>
          </a:p>
        </p:txBody>
      </p:sp>
      <p:pic>
        <p:nvPicPr>
          <p:cNvPr id="21" name="Image 1" descr="/home/claude/figs/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364992"/>
            <a:ext cx="5806440" cy="18928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943600" y="5230368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B3A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end-to-end, modular ABSA pipeline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Python modules</a:t>
            </a:r>
            <a:r>
              <a:rPr lang="en-US" sz="14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from raw passenger voices to managerial interpretation</a:t>
            </a:r>
            <a:endParaRPr lang="en-US" sz="1400" dirty="0"/>
          </a:p>
        </p:txBody>
      </p:sp>
      <p:pic>
        <p:nvPicPr>
          <p:cNvPr id="7" name="Image 1" descr="/home/claude/figs/fi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1755648"/>
            <a:ext cx="6858000" cy="4663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355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B3A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aspects are found &amp; labelled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777240" y="1591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Aspect extraction — BIO tagging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011680"/>
            <a:ext cx="576072" cy="4572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576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50545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8760" y="20116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E284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1508760" y="20116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508760" y="25054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78608" y="2011680"/>
            <a:ext cx="1344168" cy="457200"/>
          </a:xfrm>
          <a:prstGeom prst="roundRect">
            <a:avLst>
              <a:gd name="adj" fmla="val 12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2"/>
          <p:cNvSpPr/>
          <p:nvPr/>
        </p:nvSpPr>
        <p:spPr>
          <a:xfrm>
            <a:off x="2578608" y="20116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578608" y="250545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032504" y="2011680"/>
            <a:ext cx="864108" cy="4572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4032504" y="2011680"/>
            <a:ext cx="86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032504" y="2505456"/>
            <a:ext cx="8641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27980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/ Inside / Outside</a:t>
            </a:r>
            <a:r>
              <a:rPr lang="en-US" sz="115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span “missed connection” (Punctuality). Longest-match keeps phrases whole.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777240" y="35570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Supervision — silver labels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2960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4" name="Text 21"/>
          <p:cNvSpPr/>
          <p:nvPr/>
        </p:nvSpPr>
        <p:spPr>
          <a:xfrm>
            <a:off x="822960" y="4069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1–2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389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523744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Text 24"/>
          <p:cNvSpPr/>
          <p:nvPr/>
        </p:nvSpPr>
        <p:spPr>
          <a:xfrm>
            <a:off x="2523744" y="4069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523744" y="4389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224528" y="397764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Text 27"/>
          <p:cNvSpPr/>
          <p:nvPr/>
        </p:nvSpPr>
        <p:spPr>
          <a:xfrm>
            <a:off x="4224528" y="4069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4–5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224528" y="4389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77240" y="4901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Sub-ratings → sentiment: scalable, but injects label noise.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72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Three levels of model complexity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72200" y="1810512"/>
            <a:ext cx="54864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5" name="Shape 32"/>
          <p:cNvSpPr/>
          <p:nvPr/>
        </p:nvSpPr>
        <p:spPr>
          <a:xfrm>
            <a:off x="6355080" y="1993392"/>
            <a:ext cx="365760" cy="365760"/>
          </a:xfrm>
          <a:prstGeom prst="ellipse">
            <a:avLst/>
          </a:prstGeom>
          <a:solidFill>
            <a:srgbClr val="6FB7D4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Text 33"/>
          <p:cNvSpPr/>
          <p:nvPr/>
        </p:nvSpPr>
        <p:spPr>
          <a:xfrm>
            <a:off x="63550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6858000" y="19019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baseline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858000" y="21945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near the aspect — transparent reference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172200" y="2651760"/>
            <a:ext cx="54864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40" name="Shape 37"/>
          <p:cNvSpPr/>
          <p:nvPr/>
        </p:nvSpPr>
        <p:spPr>
          <a:xfrm>
            <a:off x="6355080" y="2834640"/>
            <a:ext cx="365760" cy="36576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Text 38"/>
          <p:cNvSpPr/>
          <p:nvPr/>
        </p:nvSpPr>
        <p:spPr>
          <a:xfrm>
            <a:off x="6355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685800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6858000" y="30358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uni/bigrams, one classifier per aspect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172200" y="3493008"/>
            <a:ext cx="54864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45" name="Shape 42"/>
          <p:cNvSpPr/>
          <p:nvPr/>
        </p:nvSpPr>
        <p:spPr>
          <a:xfrm>
            <a:off x="6355080" y="3675888"/>
            <a:ext cx="365760" cy="365760"/>
          </a:xfrm>
          <a:prstGeom prst="ellipse">
            <a:avLst/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Text 43"/>
          <p:cNvSpPr/>
          <p:nvPr/>
        </p:nvSpPr>
        <p:spPr>
          <a:xfrm>
            <a:off x="635508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6858000" y="35844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6858000" y="387705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aspect-aware  [CLS] context [SEP] aspect [SEP]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17220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— train on the past, test on later reviews.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548640" y="534924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Text 48"/>
          <p:cNvSpPr/>
          <p:nvPr/>
        </p:nvSpPr>
        <p:spPr>
          <a:xfrm>
            <a:off x="822960" y="53492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test: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bottleneck model capacity, or supervision quality?</a:t>
            </a:r>
            <a:endParaRPr lang="en-US" sz="1300" dirty="0"/>
          </a:p>
        </p:txBody>
      </p:sp>
      <p:sp>
        <p:nvSpPr>
          <p:cNvPr id="53" name="Text 4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86A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 extraction works at scale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417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594360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717,904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43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spans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834640" y="1417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2880360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8803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coverage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120640" y="14173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5166360" y="1536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76.2%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1663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multi-aspect reviews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98080" y="13716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Crew Service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most-discussed aspect; </a:t>
            </a: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reviews mention ≥2 aspects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empirical case for ABSA over a single label.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span counts (BIO)  &amp;  number of aspects per review</a:t>
            </a:r>
            <a:endParaRPr lang="en-US" sz="1250" dirty="0"/>
          </a:p>
        </p:txBody>
      </p:sp>
      <p:pic>
        <p:nvPicPr>
          <p:cNvPr id="23" name="Image 1" descr="/home/claude/figs/fig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063240"/>
            <a:ext cx="8778240" cy="30449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" y="6355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86A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learning wins — the transformer doesn't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pic>
        <p:nvPicPr>
          <p:cNvPr id="12" name="Image 1" descr="/home/claude/figs/fig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554480"/>
            <a:ext cx="9235440" cy="3611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6355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Text 11"/>
          <p:cNvSpPr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0.462 → TF-IDF 0.608.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(0.574) loses on 4 of 5 aspects — the bottleneck is label quality, not capacity.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86A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transformer struggles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vs TF-IDF disagreement by aspect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11480" y="178308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858000" y="1508760"/>
            <a:ext cx="4800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1"/>
          <p:cNvSpPr/>
          <p:nvPr/>
        </p:nvSpPr>
        <p:spPr>
          <a:xfrm>
            <a:off x="708660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neutral class is the bottleneck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086600" y="2048256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classifies clear positives and negatives well, but stumbles on neutral — which in airline reviews rarely means neutral language; it means a mixed experience an indirect label can't pin down.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58000" y="3474720"/>
            <a:ext cx="4800600" cy="1691640"/>
          </a:xfrm>
          <a:prstGeom prst="roundRect">
            <a:avLst>
              <a:gd name="adj" fmla="val 5405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Text 14"/>
          <p:cNvSpPr/>
          <p:nvPr/>
        </p:nvSpPr>
        <p:spPr>
          <a:xfrm>
            <a:off x="708660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 is hardest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086600" y="401421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59.8% disagreement — </a:t>
            </a: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words aren't inherently positive or negative; meaning depends on perceived fairness. Crew (38.1%) uses direct words like “friendly”, “rude”.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544068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Text 17"/>
          <p:cNvSpPr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noisy labels, improving label quality matters more than a bigger model.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284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For Money is the strongest driver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284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aspects drive satisfaction?  (Pearson r)</a:t>
            </a:r>
            <a:endParaRPr lang="en-US" sz="1250" dirty="0"/>
          </a:p>
        </p:txBody>
      </p:sp>
      <p:pic>
        <p:nvPicPr>
          <p:cNvPr id="13" name="Image 1" descr="/home/claude/figs/fig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83080"/>
            <a:ext cx="6035040" cy="31272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" y="491947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858000" y="1554480"/>
            <a:ext cx="4800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Text 12"/>
          <p:cNvSpPr/>
          <p:nvPr/>
        </p:nvSpPr>
        <p:spPr>
          <a:xfrm>
            <a:off x="70866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 agree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086600" y="208483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= 0.899 · dominant Ridge predictor (R² = 0.874) · near-neutral AOPE.</a:t>
            </a: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For Money tops every view.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474720"/>
            <a:ext cx="4800600" cy="1691640"/>
          </a:xfrm>
          <a:prstGeom prst="roundRect">
            <a:avLst>
              <a:gd name="adj" fmla="val 5405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9" name="Text 15"/>
          <p:cNvSpPr/>
          <p:nvPr/>
        </p:nvSpPr>
        <p:spPr>
          <a:xfrm>
            <a:off x="708660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lens, not just an aspect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086600" y="401421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judge comfort, crew and food relative to the fare paid. Value is compensable — a basic flight can still pass if the price feels fair.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284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Punctuality is the non-compensable damage factor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284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polarity by aspect  (AOPE)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11480" y="178308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858000" y="1554480"/>
            <a:ext cx="4800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1"/>
          <p:cNvSpPr/>
          <p:nvPr/>
        </p:nvSpPr>
        <p:spPr>
          <a:xfrm>
            <a:off x="70866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negative aspect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086600" y="2066544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AOPE −1.03. “delayed” is the single most frequent opinion word — </a:t>
            </a: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37,619×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ahead of “good” or “friendly”.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58000" y="3108960"/>
            <a:ext cx="4800600" cy="2057400"/>
          </a:xfrm>
          <a:prstGeom prst="roundRect">
            <a:avLst>
              <a:gd name="adj" fmla="val 4444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Text 14"/>
          <p:cNvSpPr/>
          <p:nvPr/>
        </p:nvSpPr>
        <p:spPr>
          <a:xfrm>
            <a:off x="7086600" y="3255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satisfaction switch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086600" y="3639312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collapse between the 1-hour and 2-hour delay bands, then plateau at a floor.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delay is severe, crew, food or comfort can’t repair it — it is non-compensable.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2842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is read relative to expectation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284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sub-ratings by cabin class (1–5)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65760" y="1783080"/>
          <a:ext cx="6858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7589520" y="155448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1"/>
          <p:cNvSpPr/>
          <p:nvPr/>
        </p:nvSpPr>
        <p:spPr>
          <a:xfrm>
            <a:off x="7772400" y="1673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type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7240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&gt; low-cost on service, but Value For Money is near-identical — expectations track the business model.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589520" y="306324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Text 14"/>
          <p:cNvSpPr/>
          <p:nvPr/>
        </p:nvSpPr>
        <p:spPr>
          <a:xfrm>
            <a:off x="777240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8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type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772400" y="35021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Business in Business Class are most satisfied; Family Leisure in Economy least.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589520" y="4343400"/>
            <a:ext cx="4069080" cy="822960"/>
          </a:xfrm>
          <a:prstGeom prst="roundRect">
            <a:avLst>
              <a:gd name="adj" fmla="val 11111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1" name="Text 17"/>
          <p:cNvSpPr/>
          <p:nvPr/>
        </p:nvSpPr>
        <p:spPr>
          <a:xfrm>
            <a:off x="7772400" y="44348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is the weakest dimension in every cabin</a:t>
            </a: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structural gap, not an Economy problem.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544068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19"/>
          <p:cNvSpPr/>
          <p:nvPr/>
        </p:nvSpPr>
        <p:spPr>
          <a:xfrm>
            <a:off x="822960" y="544068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delay overrides everything: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delay is mentioned, all traveller groups converge to a shared dissatisfaction floor.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7D5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softens blame through attribution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by weather / delay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11480" y="169164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by weather category</a:t>
            </a:r>
            <a:endParaRPr lang="en-US" sz="125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6172200" y="169164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Shape 11"/>
          <p:cNvSpPr/>
          <p:nvPr/>
        </p:nvSpPr>
        <p:spPr>
          <a:xfrm>
            <a:off x="548640" y="521208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7" name="Text 12"/>
          <p:cNvSpPr/>
          <p:nvPr/>
        </p:nvSpPr>
        <p:spPr>
          <a:xfrm>
            <a:off x="822960" y="5212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alone crashes ratings to 2.64; </a:t>
            </a: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as an external cause softens the blame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clearer the cause (turbulence 6.09 vs vague “generic” 3.21), the more forgiving passengers are.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7D5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season is an expectations penalty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Northern-Hemisphere peak-season penalty by cabin class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11480" y="1783080"/>
          <a:ext cx="6126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6903720" y="155448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Text 11"/>
          <p:cNvSpPr/>
          <p:nvPr/>
        </p:nvSpPr>
        <p:spPr>
          <a:xfrm>
            <a:off x="71323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Hemisphere-aware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132320" y="2075688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 is defined per hemisphere. The Northern summer carries a significant penalty of </a:t>
            </a: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−0.47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(p&lt;0.001).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903720" y="342900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12263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Text 14"/>
          <p:cNvSpPr/>
          <p:nvPr/>
        </p:nvSpPr>
        <p:spPr>
          <a:xfrm>
            <a:off x="713232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Expectations, not just capacity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132320" y="3950208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Economy is hit hardest;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shows no significant decline</a:t>
            </a: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strong enough service floor insulates against peak-season pressure.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2E7D5B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RQ3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events need a causal design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83496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9683496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360152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E6EC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10360152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036808" y="246888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11036808" y="24688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 vs raw before/after — seven aviation events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11109960" cy="512064"/>
          </a:xfrm>
          <a:prstGeom prst="rect">
            <a:avLst/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1"/>
          <p:cNvSpPr/>
          <p:nvPr/>
        </p:nvSpPr>
        <p:spPr>
          <a:xfrm>
            <a:off x="777240" y="1783080"/>
            <a:ext cx="594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49440" y="1783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change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0" y="17830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estimate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0" y="178308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48640" y="2295144"/>
            <a:ext cx="11109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777240" y="229514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Aviation Strikes (2023)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949440" y="22951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+0.69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144000" y="22951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+1.33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807208"/>
            <a:ext cx="1110996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0"/>
          <p:cNvSpPr/>
          <p:nvPr/>
        </p:nvSpPr>
        <p:spPr>
          <a:xfrm>
            <a:off x="777240" y="280720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Ban (2019)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49440" y="28072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-0.28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144000" y="28072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3319272"/>
            <a:ext cx="11109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4"/>
          <p:cNvSpPr/>
          <p:nvPr/>
        </p:nvSpPr>
        <p:spPr>
          <a:xfrm>
            <a:off x="777240" y="331927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Boom (2022)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949440" y="33192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0" y="331927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+0.73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3831336"/>
            <a:ext cx="1110996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8"/>
          <p:cNvSpPr/>
          <p:nvPr/>
        </p:nvSpPr>
        <p:spPr>
          <a:xfrm>
            <a:off x="777240" y="383133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Outage (2024)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949440" y="38313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144000" y="38313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4343400"/>
            <a:ext cx="11109960" cy="512064"/>
          </a:xfrm>
          <a:prstGeom prst="rect">
            <a:avLst/>
          </a:prstGeom>
          <a:solidFill>
            <a:srgbClr val="FFF3E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2"/>
          <p:cNvSpPr/>
          <p:nvPr/>
        </p:nvSpPr>
        <p:spPr>
          <a:xfrm>
            <a:off x="777240" y="43434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Door Blowout (2024)  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949440" y="43434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144000" y="43434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-0.30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48640" y="4855464"/>
            <a:ext cx="1110996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6"/>
          <p:cNvSpPr/>
          <p:nvPr/>
        </p:nvSpPr>
        <p:spPr>
          <a:xfrm>
            <a:off x="777240" y="48554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War &amp; Airspace (2022)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949440" y="485546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-0.17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9144000" y="485546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48640" y="5367528"/>
            <a:ext cx="11109960" cy="512064"/>
          </a:xfrm>
          <a:prstGeom prst="rect">
            <a:avLst/>
          </a:prstGeom>
          <a:solidFill>
            <a:srgbClr val="FFF3E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0"/>
          <p:cNvSpPr/>
          <p:nvPr/>
        </p:nvSpPr>
        <p:spPr>
          <a:xfrm>
            <a:off x="777240" y="536752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Pandemic (2020)  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6949440" y="53675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-1.17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9144000" y="53675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-0.89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48640" y="598932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4"/>
          <p:cNvSpPr/>
          <p:nvPr/>
        </p:nvSpPr>
        <p:spPr>
          <a:xfrm>
            <a:off x="822960" y="59893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Door Blowout: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ratings rose (+0.32) yet DiD is −0.30 — once seasonality is removed, the effect flips. </a:t>
            </a: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is the strongest true negative.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B3A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75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is a layered judgement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E2842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Compensable vs non-compensable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 trades off; Punctuality sets a floor others can't lift.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53128" y="178308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Shape 9"/>
          <p:cNvSpPr/>
          <p:nvPr/>
        </p:nvSpPr>
        <p:spPr>
          <a:xfrm>
            <a:off x="4773168" y="219456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477316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73168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to supervision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773168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silver labels, better labels beat a bigger model.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357616" y="178308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4"/>
          <p:cNvSpPr/>
          <p:nvPr/>
        </p:nvSpPr>
        <p:spPr>
          <a:xfrm>
            <a:off x="8677656" y="219456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5"/>
          <p:cNvSpPr/>
          <p:nvPr/>
        </p:nvSpPr>
        <p:spPr>
          <a:xfrm>
            <a:off x="867765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677656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 + context = evidence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677656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when &amp; for whom each sentiment matters.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66360"/>
            <a:ext cx="11109960" cy="713232"/>
          </a:xfrm>
          <a:prstGeom prst="roundRect">
            <a:avLst>
              <a:gd name="adj" fmla="val 12821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19"/>
          <p:cNvSpPr/>
          <p:nvPr/>
        </p:nvSpPr>
        <p:spPr>
          <a:xfrm>
            <a:off x="822960" y="516636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governed by fairness, reliability, expectations &amp; attribution — not a single score.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463040" y="76809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Contributions, limitations &amp; next steps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440680" cy="3154680"/>
          </a:xfrm>
          <a:prstGeom prst="roundRect">
            <a:avLst>
              <a:gd name="adj" fmla="val 2899"/>
            </a:avLst>
          </a:prstGeom>
          <a:solidFill>
            <a:srgbClr val="1B3A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domain-aware ABSA pipeline at scale</a:t>
            </a:r>
            <a:endParaRPr lang="en-US" sz="13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3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→ structured evidence on what failed &amp; for whom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440680" cy="3154680"/>
          </a:xfrm>
          <a:prstGeom prst="roundRect">
            <a:avLst>
              <a:gd name="adj" fmla="val 2899"/>
            </a:avLst>
          </a:prstGeom>
          <a:solidFill>
            <a:srgbClr val="1B3A5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8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22860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gold-standard annotation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silver-label noise — the likely DistilBERT gap</a:t>
            </a:r>
            <a:endParaRPr lang="en-US" sz="13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endParaRPr lang="en-US" sz="13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 set · better neutral class · richer context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394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per l'attenzione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Antonella Convertini  ·  Questions welcome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48640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2640</Words>
  <Application>Microsoft Macintosh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ABSA of Airline Reviews</dc:title>
  <dc:subject>PptxGenJS Presentation</dc:subject>
  <dc:creator>Antonella Convertini</dc:creator>
  <cp:lastModifiedBy>Antonella Convertini</cp:lastModifiedBy>
  <cp:revision>2</cp:revision>
  <dcterms:created xsi:type="dcterms:W3CDTF">2026-06-29T22:25:38Z</dcterms:created>
  <dcterms:modified xsi:type="dcterms:W3CDTF">2026-07-01T12:13:58Z</dcterms:modified>
</cp:coreProperties>
</file>